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2.png"/><Relationship Id="rId13" Type="http://schemas.openxmlformats.org/officeDocument/2006/relationships/image" Target="../media/image-8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84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270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End-to-End Data Analytics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13323"/>
            <a:ext cx="61793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055813"/>
            <a:ext cx="90502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13895" y="3013323"/>
            <a:ext cx="60320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98950" y="3055813"/>
            <a:ext cx="8902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287938" y="3013323"/>
            <a:ext cx="87071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72993" y="3055813"/>
            <a:ext cx="115780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29499" y="3013323"/>
            <a:ext cx="37646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14554" y="3055813"/>
            <a:ext cx="663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76802" y="3013323"/>
            <a:ext cx="68394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1857" y="3055813"/>
            <a:ext cx="9710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925119" y="338814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i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Numan Momin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8799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92014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customer shopping data to understand purchasing patterns, customer segments, product performance and revenue contribution.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14215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77430"/>
            <a:ext cx="4327773" cy="1885057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customer purchasing behavior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and prepare data using Python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feature engineering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and analyze data using PostgreSQL &amp; SQL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customer, product and category performance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interactive Power BI dashboard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actionable business recommendations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531" y="1444600"/>
            <a:ext cx="3478039" cy="19708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74531" y="3574926"/>
            <a:ext cx="3478039" cy="779562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9" y="3789983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35228" y="3737893"/>
            <a:ext cx="28755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3,900 Records | 18 Original Columns | 4 Categories | 25 Products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97830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Python: Data Cleaning &amp; Feature Engineering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664345"/>
            <a:ext cx="21965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25119" y="2004194"/>
            <a:ext cx="2196554" cy="2594967"/>
          </a:xfrm>
          <a:prstGeom prst="rect">
            <a:avLst/>
          </a:prstGeom>
          <a:noFill/>
          <a:ln/>
        </p:spPr>
        <p:txBody>
          <a:bodyPr wrap="square" lIns="0" tIns="54049" rIns="0" bIns="0" rtlCol="0" anchor="t">
            <a:normAutofit/>
          </a:bodyPr>
          <a:lstStyle/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dataset using Pandas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Inspected structure using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missing values —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None found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column names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Renamed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purchase_amount_(usd)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purchase_amount</a:t>
            </a:r>
            <a:endParaRPr lang="en-US" sz="1050" dirty="0"/>
          </a:p>
          <a:p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redundant 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marL="213360" indent="-21336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56090" y="1664345"/>
            <a:ext cx="21965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6090" y="2020342"/>
            <a:ext cx="2196554" cy="10702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86401" y="2174453"/>
            <a:ext cx="18121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86401" y="2514302"/>
            <a:ext cx="18121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 · Adult · Middle-aged · Senior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6090" y="3219376"/>
            <a:ext cx="2196554" cy="12814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86401" y="3373487"/>
            <a:ext cx="18121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Frequency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86401" y="3713336"/>
            <a:ext cx="1812131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(7d) · Fortnightly (14d) · Monthly (30d) · Quarterly (90d) · Annually (365d)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092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PostgreSQL &amp; SQL Analysis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7984" y="864915"/>
            <a:ext cx="3258071" cy="3877419"/>
          </a:xfrm>
          <a:prstGeom prst="roundRect">
            <a:avLst>
              <a:gd name="adj" fmla="val 239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6479" y="947961"/>
            <a:ext cx="304107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Storage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6479" y="1200522"/>
            <a:ext cx="3041079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Database:</a:t>
            </a:r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customer_behavior</a:t>
            </a:r>
            <a:endParaRPr lang="en-US" sz="850" dirty="0"/>
          </a:p>
          <a:p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Table:</a:t>
            </a:r>
            <a:pPr algn="l" indent="0" marL="0">
              <a:lnSpc>
                <a:spcPct val="118000"/>
              </a:lnSpc>
              <a:spcAft>
                <a:spcPts val="5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Tools: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SQLAlchemy + psycopg2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26479" y="1930524"/>
            <a:ext cx="3041079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6479" y="2065362"/>
            <a:ext cx="304107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6479" y="2317924"/>
            <a:ext cx="3041079" cy="517922"/>
          </a:xfrm>
          <a:prstGeom prst="rect">
            <a:avLst/>
          </a:prstGeom>
          <a:noFill/>
          <a:ln/>
        </p:spPr>
        <p:txBody>
          <a:bodyPr wrap="square" lIns="0" tIns="43416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New: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 previous purchase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Returning: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2–10 previous purchases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Loyal:</a:t>
            </a:r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&gt;10 previous purchases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67448" y="947961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Business Questions Answered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67448" y="1210940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67448" y="1381051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3867448" y="1463873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gender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67448" y="1797769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67448" y="1967880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3867448" y="2050703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Discounted purchases above average spending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67448" y="2384599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67448" y="2554709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3867448" y="2637532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Top-rated products &amp; shipping type spending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67448" y="2971428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67448" y="3141538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448" y="3224361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Subscriber vs non-subscriber spending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67448" y="3558257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67448" y="3728368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3867448" y="3811191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discount rates &amp; customer segmentation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67448" y="4145087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67448" y="4315197"/>
            <a:ext cx="4785122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3867448" y="4398020"/>
            <a:ext cx="478512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products by category &amp; revenue by age group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7575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6119" y="1013445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Customers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94101" y="717575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$59.76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94101" y="1013445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Purchase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96119" y="1230437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6119" y="1526307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Rating / 5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94101" y="1230437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4101" y="1526307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Non-Subscribers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96119" y="171226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Distribution</a:t>
            </a:r>
            <a:endParaRPr lang="en-US" sz="6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62807"/>
            <a:ext cx="3989412" cy="28715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3232" y="171226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Features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663232" y="185841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Filters: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663232" y="1975321"/>
            <a:ext cx="3989412" cy="377279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Type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663232" y="2384450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Visualizations: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4663232" y="2501354"/>
            <a:ext cx="3989412" cy="474687"/>
          </a:xfrm>
          <a:prstGeom prst="rect">
            <a:avLst/>
          </a:prstGeom>
          <a:noFill/>
          <a:ln/>
        </p:spPr>
        <p:txBody>
          <a:bodyPr wrap="square" lIns="0" tIns="28353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Category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by Category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Age Group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by Age Group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Distribution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22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Analysis &amp; Findings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69628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393403"/>
            <a:ext cx="980405" cy="357634"/>
          </a:xfrm>
          <a:prstGeom prst="roundRect">
            <a:avLst>
              <a:gd name="adj" fmla="val 148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508" y="1461269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1782589"/>
            <a:ext cx="1960885" cy="357634"/>
          </a:xfrm>
          <a:prstGeom prst="roundRect">
            <a:avLst>
              <a:gd name="adj" fmla="val 148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7748" y="1850454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171774"/>
            <a:ext cx="2941365" cy="357634"/>
          </a:xfrm>
          <a:prstGeom prst="roundRect">
            <a:avLst>
              <a:gd name="adj" fmla="val 148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7988" y="2239640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2560960"/>
            <a:ext cx="3921844" cy="357634"/>
          </a:xfrm>
          <a:prstGeom prst="roundRect">
            <a:avLst>
              <a:gd name="adj" fmla="val 1482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28" y="2628826"/>
            <a:ext cx="177552" cy="221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044800"/>
            <a:ext cx="252487" cy="252487"/>
          </a:xfrm>
          <a:prstGeom prst="roundRect">
            <a:avLst>
              <a:gd name="adj" fmla="val 2100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446" y="3072371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1045" y="3072408"/>
            <a:ext cx="35569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Outerwear — Lowest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6119" y="3486671"/>
            <a:ext cx="252487" cy="252487"/>
          </a:xfrm>
          <a:prstGeom prst="roundRect">
            <a:avLst>
              <a:gd name="adj" fmla="val 2100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446" y="3514241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1045" y="3514279"/>
            <a:ext cx="35569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Footwear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6119" y="3928542"/>
            <a:ext cx="252487" cy="252487"/>
          </a:xfrm>
          <a:prstGeom prst="roundRect">
            <a:avLst>
              <a:gd name="adj" fmla="val 2100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446" y="3956112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1045" y="3956149"/>
            <a:ext cx="35569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Accessories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119" y="4370412"/>
            <a:ext cx="252487" cy="252487"/>
          </a:xfrm>
          <a:prstGeom prst="roundRect">
            <a:avLst>
              <a:gd name="adj" fmla="val 2100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446" y="4397983"/>
            <a:ext cx="15775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1045" y="4398020"/>
            <a:ext cx="35569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Clothing — Highest Sales &amp; Revenue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0800" y="1069628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 Performance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30800" y="1393403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090" y="1417030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127278" y="1436787"/>
            <a:ext cx="352536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Young Adult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7278" y="1746498"/>
            <a:ext cx="352536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contribution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0800" y="216232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8090" y="2185950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127278" y="2205707"/>
            <a:ext cx="352536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Middle-aged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0800" y="2671242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8090" y="2694868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127278" y="2714625"/>
            <a:ext cx="352536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30800" y="3180159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8090" y="3203786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127278" y="3223543"/>
            <a:ext cx="352536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Senior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7278" y="3533254"/>
            <a:ext cx="352536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contribution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0800" y="3850704"/>
            <a:ext cx="3921844" cy="647402"/>
          </a:xfrm>
          <a:prstGeom prst="roundRect">
            <a:avLst>
              <a:gd name="adj" fmla="val 8191"/>
            </a:avLst>
          </a:prstGeom>
          <a:solidFill>
            <a:srgbClr val="E1E1EA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006" y="4022378"/>
            <a:ext cx="157758" cy="126206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140970" y="3983459"/>
            <a:ext cx="338546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purchase: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Average rating: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3.75 / 5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Majority are non-subscribers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531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Insights &amp; Recommendations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96119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1609" y="1075134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2990" y="1166515"/>
            <a:ext cx="149498" cy="149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1609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Retention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1609" y="1718742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New, Returning, and Loyal segments to develop targeted retention strategies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5235" y="959644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0725" y="1075134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106" y="1166515"/>
            <a:ext cx="149498" cy="1494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0725" y="1493862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Growth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30725" y="1718742"/>
            <a:ext cx="3801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73% non-subscribers represent a major opportunity for subscription adoption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96119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1609" y="2351708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990" y="2443088"/>
            <a:ext cx="149498" cy="1494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609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Category Optimization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11609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Clothing's strong performance warrants increased inventory and marketing focus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15235" y="2236217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30725" y="2351708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106" y="2443088"/>
            <a:ext cx="149498" cy="1494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30725" y="2770436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Marketing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730725" y="2995315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are the strongest segment — personalize campaigns for this group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96119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1609" y="3628281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2990" y="3719661"/>
            <a:ext cx="149498" cy="1494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1609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Optimization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11609" y="4271888"/>
            <a:ext cx="380166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high-discount products to evaluate ROI on discounting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615235" y="3512790"/>
            <a:ext cx="4032647" cy="1190104"/>
          </a:xfrm>
          <a:prstGeom prst="roundRect">
            <a:avLst>
              <a:gd name="adj" fmla="val 390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30725" y="3628281"/>
            <a:ext cx="332259" cy="332259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2106" y="3719661"/>
            <a:ext cx="149498" cy="1494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30725" y="4047009"/>
            <a:ext cx="380166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Strategy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730725" y="4271888"/>
            <a:ext cx="380166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sales, revenue, and review ratings when evaluating product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278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03102"/>
            <a:ext cx="519841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Pipeline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95846"/>
            <a:ext cx="5198418" cy="22416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5946" y="3112395"/>
            <a:ext cx="1179331" cy="14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Insights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5946" y="2593489"/>
            <a:ext cx="1179331" cy="14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Viz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5946" y="2079825"/>
            <a:ext cx="1179331" cy="14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Storage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5946" y="1560920"/>
            <a:ext cx="1179331" cy="14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3646810"/>
            <a:ext cx="519841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Outcomes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6119" y="3927425"/>
            <a:ext cx="5198418" cy="788715"/>
          </a:xfrm>
          <a:prstGeom prst="rect">
            <a:avLst/>
          </a:prstGeom>
          <a:noFill/>
          <a:ln/>
        </p:spPr>
        <p:txBody>
          <a:bodyPr wrap="square" lIns="0" tIns="4696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understanding of customer purchasing behavior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and age-group performance analysis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and segmentation patterns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performance insights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85644" y="1111076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23" y="1407430"/>
            <a:ext cx="176064" cy="176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67090" y="1403821"/>
            <a:ext cx="22854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Churn Prediction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9623" y="1957648"/>
            <a:ext cx="176064" cy="176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67090" y="1954039"/>
            <a:ext cx="22854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RFM Analysis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9623" y="2507866"/>
            <a:ext cx="176064" cy="176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67090" y="2504256"/>
            <a:ext cx="228547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Lifetime Value Modeling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9623" y="3069171"/>
            <a:ext cx="176064" cy="1760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67090" y="3065562"/>
            <a:ext cx="2285479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Recommendation System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9623" y="3630476"/>
            <a:ext cx="176064" cy="176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67090" y="3626867"/>
            <a:ext cx="22854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Purchasing Analysis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29623" y="4180694"/>
            <a:ext cx="176064" cy="1760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367090" y="4177085"/>
            <a:ext cx="22854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Dashboard Reporting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Visualization &amp; Insights Summary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visual recap of key findings and their implications for business strategy.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07021"/>
            <a:ext cx="8151763" cy="4564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5411763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This chart illustrates the revenue contribution by different age groups, clearly showing       that Young Adults are the highest contributors to total revenue, followed by       Middle-aged and Adult segments. The Senior segment currently contributes the least. This       highlights the importance of tailoring marketing efforts and product offerings to the       most impactful demographics.     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96119" y="5621685"/>
            <a:ext cx="8151763" cy="187747"/>
          </a:xfrm>
          <a:prstGeom prst="roundRect">
            <a:avLst>
              <a:gd name="adj" fmla="val 1585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61" y="5674816"/>
            <a:ext cx="88553" cy="70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356" y="5674816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The strongest segments (Young Adult, Middle-aged) drive the majority of sales and revenue,         while areas like Outerwear and the Senior demographic present opportunities for targeted growth initiatives.       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5895"/>
            <a:ext cx="4722763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 Roadmap &amp; Next Steps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2850356" y="1375395"/>
            <a:ext cx="14288" cy="2819474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2387538" y="1500262"/>
            <a:ext cx="352202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2725452" y="1375395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69431" y="139734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1415728"/>
            <a:ext cx="177440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1: Advanced Analytics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6119" y="1840855"/>
            <a:ext cx="177440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dive into RFM &amp; CLTV modeling for precise customer segmentation.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75260" y="2164259"/>
            <a:ext cx="352202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2725452" y="2039392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9431" y="206134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44478" y="2079724"/>
            <a:ext cx="177440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2: Predictive Insights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444478" y="2504852"/>
            <a:ext cx="177440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churn prediction and product recommendation engine models.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387538" y="2751683"/>
            <a:ext cx="352202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2725452" y="2626816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69431" y="264876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96119" y="2667149"/>
            <a:ext cx="177440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3: Operational Integration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96119" y="3092276"/>
            <a:ext cx="177440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reporting and integrate insights into daily business workflows.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75260" y="3339182"/>
            <a:ext cx="352202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21" name="Shape 18"/>
          <p:cNvSpPr/>
          <p:nvPr/>
        </p:nvSpPr>
        <p:spPr>
          <a:xfrm>
            <a:off x="2725452" y="3214315"/>
            <a:ext cx="264096" cy="26409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69431" y="3236268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3444478" y="3254648"/>
            <a:ext cx="1774403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4: Continuous Optimization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444478" y="3679775"/>
            <a:ext cx="177440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A/B testing frameworks and performance monitoring for ongoing improvement.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6119" y="4304184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roadmap outlines our strategic approach to leveraging advanced analytics for sustained business growth and enhanced operational efficiency.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2026-08-18T10:00:07Z</dcterms:created>
  <dcterms:modified xsi:type="dcterms:W3CDTF">2026-08-18T10:00:07Z</dcterms:modified>
</cp:coreProperties>
</file>